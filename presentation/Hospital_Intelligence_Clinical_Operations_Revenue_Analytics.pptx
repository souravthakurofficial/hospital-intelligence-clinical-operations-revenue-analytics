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4630400" cy="8229600"/>
  <p:notesSz cx="8229600" cy="14630400"/>
  <p:embeddedFontLst>
    <p:embeddedFont>
      <p:font typeface="Kanit" panose="020B0604020202020204" charset="-34"/>
      <p:regular r:id="rId14"/>
    </p:embeddedFont>
    <p:embeddedFont>
      <p:font typeface="Martel Sans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72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3" y="2304693"/>
            <a:ext cx="12924576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5400" b="1" u="sng" dirty="0">
                <a:solidFill>
                  <a:schemeClr val="bg1"/>
                </a:solidFill>
                <a:latin typeface="Kanit" panose="020B0604020202020204" charset="-34"/>
                <a:cs typeface="Kanit" panose="020B0604020202020204" charset="-34"/>
              </a:rPr>
              <a:t>Hospital Intelligence: </a:t>
            </a:r>
          </a:p>
          <a:p>
            <a:pPr algn="ctr"/>
            <a:r>
              <a:rPr lang="en-IN" sz="5400" b="1" u="sng" dirty="0">
                <a:solidFill>
                  <a:schemeClr val="bg1"/>
                </a:solidFill>
                <a:latin typeface="Kanit" panose="020B0604020202020204" charset="-34"/>
                <a:cs typeface="Kanit" panose="020B0604020202020204" charset="-34"/>
              </a:rPr>
              <a:t>Clinical Operations &amp; Revenue Analytics</a:t>
            </a:r>
          </a:p>
        </p:txBody>
      </p:sp>
      <p:sp>
        <p:nvSpPr>
          <p:cNvPr id="4" name="Text 1"/>
          <p:cNvSpPr/>
          <p:nvPr/>
        </p:nvSpPr>
        <p:spPr>
          <a:xfrm>
            <a:off x="868102" y="4289580"/>
            <a:ext cx="1292457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Power BI End-to-End Analytics Project delivering executive-ready insights across doctors, patients, treatments, and billing performance</a:t>
            </a:r>
            <a:endParaRPr lang="en-US" sz="1850" dirty="0"/>
          </a:p>
        </p:txBody>
      </p:sp>
      <p:pic>
        <p:nvPicPr>
          <p:cNvPr id="6" name="Graphic 5" descr="Medical with solid fill">
            <a:extLst>
              <a:ext uri="{FF2B5EF4-FFF2-40B4-BE49-F238E27FC236}">
                <a16:creationId xmlns:a16="http://schemas.microsoft.com/office/drawing/2014/main" id="{611723B1-069F-C93A-A79E-0F8A61E6A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9225" y="474563"/>
            <a:ext cx="1851949" cy="151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214A3F-9B43-0A7D-38A7-6E401E4A1665}"/>
              </a:ext>
            </a:extLst>
          </p:cNvPr>
          <p:cNvSpPr txBox="1"/>
          <p:nvPr/>
        </p:nvSpPr>
        <p:spPr>
          <a:xfrm>
            <a:off x="9954229" y="6759086"/>
            <a:ext cx="380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Kanit" panose="020B0604020202020204" charset="-34"/>
                <a:cs typeface="Kanit" panose="020B0604020202020204" charset="-34"/>
              </a:rPr>
              <a:t>Presented By :    SOURAV THAKUR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25642"/>
            <a:ext cx="72355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Business Problem Statement</a:t>
            </a:r>
            <a:endParaRPr lang="en-US" sz="4400" b="1" u="sng" dirty="0"/>
          </a:p>
        </p:txBody>
      </p:sp>
      <p:sp>
        <p:nvSpPr>
          <p:cNvPr id="3" name="Text 1"/>
          <p:cNvSpPr/>
          <p:nvPr/>
        </p:nvSpPr>
        <p:spPr>
          <a:xfrm>
            <a:off x="837724" y="262794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Challenge</a:t>
            </a:r>
            <a:endParaRPr lang="en-US" sz="2650" b="1" u="sng" dirty="0"/>
          </a:p>
        </p:txBody>
      </p:sp>
      <p:sp>
        <p:nvSpPr>
          <p:cNvPr id="4" name="Text 2"/>
          <p:cNvSpPr/>
          <p:nvPr/>
        </p:nvSpPr>
        <p:spPr>
          <a:xfrm>
            <a:off x="837724" y="3289578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Hospitals face significant operational visibility gaps that impact financial performance and patient care quality.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654034"/>
            <a:ext cx="6185535" cy="191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Revenue leakage from incomplete billing cycles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Difficulty measuring doctor efficiency and productivity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 appointment no-show and cancellation rates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Unclear treatment profitability analysis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262794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Objective</a:t>
            </a:r>
            <a:endParaRPr lang="en-US" sz="2650" b="1" u="sng" dirty="0"/>
          </a:p>
        </p:txBody>
      </p:sp>
      <p:sp>
        <p:nvSpPr>
          <p:cNvPr id="7" name="Text 5"/>
          <p:cNvSpPr/>
          <p:nvPr/>
        </p:nvSpPr>
        <p:spPr>
          <a:xfrm>
            <a:off x="7614761" y="3289578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To create a comprehensive analytics ecosystem that transforms raw data into strategic decision-making tools for hospital leadership.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4654034"/>
            <a:ext cx="6185535" cy="114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Provide 360° operational visibility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Enable data-driven revenue optimization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Improve resource allocation and patient outcomes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03017" y="1127903"/>
            <a:ext cx="7371517" cy="58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3650" b="1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Overview &amp; Modeling Strategy</a:t>
            </a:r>
            <a:endParaRPr lang="en-US" sz="3650" b="1" u="sng" dirty="0"/>
          </a:p>
        </p:txBody>
      </p:sp>
      <p:sp>
        <p:nvSpPr>
          <p:cNvPr id="4" name="Shape 1"/>
          <p:cNvSpPr/>
          <p:nvPr/>
        </p:nvSpPr>
        <p:spPr>
          <a:xfrm>
            <a:off x="698659" y="2013347"/>
            <a:ext cx="3790117" cy="2729508"/>
          </a:xfrm>
          <a:prstGeom prst="roundRect">
            <a:avLst>
              <a:gd name="adj" fmla="val 1097"/>
            </a:avLst>
          </a:prstGeom>
          <a:solidFill>
            <a:srgbClr val="2F2B54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08" y="2212896"/>
            <a:ext cx="598884" cy="59888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871" y="2377559"/>
            <a:ext cx="269438" cy="26943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98208" y="2978229"/>
            <a:ext cx="249424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Comprehensive Dataset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898208" y="3371731"/>
            <a:ext cx="3391019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Doctors, patients, appointments, treatments, billing, and payments integrated into single source of truth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4655225" y="2013347"/>
            <a:ext cx="3790117" cy="2729508"/>
          </a:xfrm>
          <a:prstGeom prst="roundRect">
            <a:avLst>
              <a:gd name="adj" fmla="val 1097"/>
            </a:avLst>
          </a:prstGeom>
          <a:solidFill>
            <a:srgbClr val="2F2B54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773" y="2212896"/>
            <a:ext cx="598884" cy="598884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9437" y="2377559"/>
            <a:ext cx="269438" cy="2694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54773" y="2978229"/>
            <a:ext cx="2348627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4854773" y="3371731"/>
            <a:ext cx="3391019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Total revenue, MoM growth, valid appointments, paid vs pending revenue tracking</a:t>
            </a:r>
            <a:endParaRPr lang="en-US" sz="1550" dirty="0"/>
          </a:p>
        </p:txBody>
      </p:sp>
      <p:sp>
        <p:nvSpPr>
          <p:cNvPr id="14" name="Shape 7"/>
          <p:cNvSpPr/>
          <p:nvPr/>
        </p:nvSpPr>
        <p:spPr>
          <a:xfrm>
            <a:off x="698659" y="4909304"/>
            <a:ext cx="7746683" cy="2143720"/>
          </a:xfrm>
          <a:prstGeom prst="roundRect">
            <a:avLst>
              <a:gd name="adj" fmla="val 1397"/>
            </a:avLst>
          </a:prstGeom>
          <a:solidFill>
            <a:srgbClr val="2F2B54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208" y="5108853"/>
            <a:ext cx="598884" cy="598884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2871" y="5273516"/>
            <a:ext cx="269438" cy="26943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98208" y="5874187"/>
            <a:ext cx="2348627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Star Schema Design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898208" y="6267688"/>
            <a:ext cx="734758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Fact tables for appointments and billing with dimension tables for doctors, patients, treatments, and time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29E150-3A1C-E415-633B-32B6F51B87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4890" y="490654"/>
            <a:ext cx="5695578" cy="71066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0270" y="286644"/>
            <a:ext cx="84512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Executive Overview Dashboard</a:t>
            </a:r>
            <a:endParaRPr lang="en-US" sz="4400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F7D942-631B-A048-3888-36932B345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64" y="1193181"/>
            <a:ext cx="12689071" cy="6345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9190" y="137340"/>
            <a:ext cx="5618321" cy="663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150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Doctor Profile Analytics</a:t>
            </a:r>
            <a:endParaRPr lang="en-US" sz="4150" u="sng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404" y="2448282"/>
            <a:ext cx="6419493" cy="304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9502" y="6411739"/>
            <a:ext cx="13051393" cy="1273969"/>
          </a:xfrm>
          <a:prstGeom prst="roundRect">
            <a:avLst>
              <a:gd name="adj" fmla="val 2656"/>
            </a:avLst>
          </a:prstGeom>
          <a:solidFill>
            <a:srgbClr val="4C010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978" y="6671626"/>
            <a:ext cx="281940" cy="2255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39835" y="6671626"/>
            <a:ext cx="12092940" cy="67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Business Impact:</a:t>
            </a:r>
            <a:r>
              <a:rPr lang="en-US" sz="17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Identifies high-performing physicians, highlights training needs, and reveals optimization opportunities in scheduling and resource allocation.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3CB76A-C6A3-0348-AF4B-656D2D372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1" y="922676"/>
            <a:ext cx="13051395" cy="5350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89124" y="126783"/>
            <a:ext cx="6644521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Patient Behavior &amp; Revenue Insights</a:t>
            </a:r>
            <a:endParaRPr lang="en-US" sz="3200" u="sn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CFB711-8A40-A0C7-49D1-62D768270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01" y="802888"/>
            <a:ext cx="12698597" cy="6869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09843" y="79824"/>
            <a:ext cx="4373166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400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Treatment Intelligence</a:t>
            </a:r>
            <a:endParaRPr lang="en-US" sz="3400" u="sng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8796A63-F38E-9C4B-803C-2E0EF398D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06" y="814039"/>
            <a:ext cx="12622387" cy="6844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94518" y="149885"/>
            <a:ext cx="689431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00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Appointments &amp; Billing Performance</a:t>
            </a:r>
            <a:endParaRPr lang="en-US" sz="3300" u="sn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F31434-2F59-B38D-D43E-53DC200BD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01" y="780585"/>
            <a:ext cx="12698597" cy="68780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6008B4-7DC8-55E4-546B-2EE447D40370}"/>
              </a:ext>
            </a:extLst>
          </p:cNvPr>
          <p:cNvSpPr/>
          <p:nvPr/>
        </p:nvSpPr>
        <p:spPr>
          <a:xfrm>
            <a:off x="4809843" y="79824"/>
            <a:ext cx="4373166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400" u="sng" dirty="0">
                <a:solidFill>
                  <a:srgbClr val="FFFFFF"/>
                </a:solidFill>
                <a:latin typeface="Kanit" pitchFamily="34" charset="0"/>
                <a:cs typeface="Kanit" pitchFamily="34" charset="-120"/>
              </a:rPr>
              <a:t>Insights</a:t>
            </a:r>
            <a:endParaRPr lang="en-US" sz="34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81468-64E7-F2B6-3E00-EF6CF1790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28" y="758283"/>
            <a:ext cx="12679544" cy="665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7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0250" y="726044"/>
            <a:ext cx="7331988" cy="480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000" u="sng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Insights &amp; Strategic Recommendations</a:t>
            </a:r>
            <a:endParaRPr lang="en-US" sz="3000" u="sng" dirty="0"/>
          </a:p>
        </p:txBody>
      </p:sp>
      <p:sp>
        <p:nvSpPr>
          <p:cNvPr id="3" name="Text 1"/>
          <p:cNvSpPr/>
          <p:nvPr/>
        </p:nvSpPr>
        <p:spPr>
          <a:xfrm>
            <a:off x="2077957" y="1609600"/>
            <a:ext cx="2862501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Actionable Intelligence from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2155" y="2033886"/>
            <a:ext cx="5247323" cy="1674257"/>
          </a:xfrm>
          <a:prstGeom prst="roundRect">
            <a:avLst>
              <a:gd name="adj" fmla="val 1463"/>
            </a:avLst>
          </a:prstGeom>
          <a:solidFill>
            <a:srgbClr val="2F2B5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391" y="2191822"/>
            <a:ext cx="489942" cy="4899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0170" y="2326481"/>
            <a:ext cx="220385" cy="220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75391" y="2793087"/>
            <a:ext cx="192131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April Revenue Peak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175391" y="3100030"/>
            <a:ext cx="49208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Highest revenue generation across multiple dashboards - analyze contributing factors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370802" y="2028587"/>
            <a:ext cx="5247323" cy="1674257"/>
          </a:xfrm>
          <a:prstGeom prst="roundRect">
            <a:avLst>
              <a:gd name="adj" fmla="val 1463"/>
            </a:avLst>
          </a:prstGeom>
          <a:solidFill>
            <a:srgbClr val="2F2B54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037" y="2191822"/>
            <a:ext cx="489942" cy="4899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8816" y="2326481"/>
            <a:ext cx="220385" cy="2203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34037" y="2793087"/>
            <a:ext cx="192131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Chemotherapy Leader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7534037" y="3100030"/>
            <a:ext cx="49208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Most profitable treatment category - consider resource expansion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2012156" y="3814167"/>
            <a:ext cx="5247323" cy="1674257"/>
          </a:xfrm>
          <a:prstGeom prst="roundRect">
            <a:avLst>
              <a:gd name="adj" fmla="val 1463"/>
            </a:avLst>
          </a:prstGeom>
          <a:solidFill>
            <a:srgbClr val="2F2B54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5391" y="3977402"/>
            <a:ext cx="489942" cy="48994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0170" y="4112062"/>
            <a:ext cx="220385" cy="22038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175391" y="4578668"/>
            <a:ext cx="192131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Payment Delays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2175391" y="4885611"/>
            <a:ext cx="49208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Certain months show elevated pending payments - improve follow-up protocols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7370802" y="3814167"/>
            <a:ext cx="5247323" cy="1674257"/>
          </a:xfrm>
          <a:prstGeom prst="roundRect">
            <a:avLst>
              <a:gd name="adj" fmla="val 1463"/>
            </a:avLst>
          </a:prstGeom>
          <a:solidFill>
            <a:srgbClr val="2F2B54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4037" y="3977402"/>
            <a:ext cx="489942" cy="48994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68816" y="4112062"/>
            <a:ext cx="220385" cy="22038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534037" y="4578668"/>
            <a:ext cx="192131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Male Patient Volume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7534037" y="4885611"/>
            <a:ext cx="49208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Higher appointment volume from male patients - tailor marketing accordingly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2012156" y="5655469"/>
            <a:ext cx="2898458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25" name="Shape 15"/>
          <p:cNvSpPr/>
          <p:nvPr/>
        </p:nvSpPr>
        <p:spPr>
          <a:xfrm>
            <a:off x="2012156" y="6110764"/>
            <a:ext cx="367427" cy="367427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26" name="Text 16"/>
          <p:cNvSpPr/>
          <p:nvPr/>
        </p:nvSpPr>
        <p:spPr>
          <a:xfrm>
            <a:off x="2080617" y="6150412"/>
            <a:ext cx="23050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17"/>
          <p:cNvSpPr/>
          <p:nvPr/>
        </p:nvSpPr>
        <p:spPr>
          <a:xfrm>
            <a:off x="2490907" y="6166842"/>
            <a:ext cx="2456497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Enhance Payment Collection</a:t>
            </a:r>
            <a:endParaRPr lang="en-US" sz="1500" dirty="0"/>
          </a:p>
        </p:txBody>
      </p:sp>
      <p:sp>
        <p:nvSpPr>
          <p:cNvPr id="28" name="Text 18"/>
          <p:cNvSpPr/>
          <p:nvPr/>
        </p:nvSpPr>
        <p:spPr>
          <a:xfrm>
            <a:off x="2490907" y="6473785"/>
            <a:ext cx="2963704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Implement automated follow-up system for pending payments to reduce revenue leakage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5593794" y="6110764"/>
            <a:ext cx="367427" cy="367427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30" name="Text 20"/>
          <p:cNvSpPr/>
          <p:nvPr/>
        </p:nvSpPr>
        <p:spPr>
          <a:xfrm>
            <a:off x="5662255" y="6150412"/>
            <a:ext cx="23050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1"/>
          <p:cNvSpPr/>
          <p:nvPr/>
        </p:nvSpPr>
        <p:spPr>
          <a:xfrm>
            <a:off x="6072545" y="6166842"/>
            <a:ext cx="192131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Reduce No-Shows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6072545" y="6473785"/>
            <a:ext cx="296382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Deploy SMS and email reminders 48 hours prior to appointments</a:t>
            </a:r>
            <a:endParaRPr 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9175552" y="6110764"/>
            <a:ext cx="367427" cy="367427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</p:sp>
      <p:sp>
        <p:nvSpPr>
          <p:cNvPr id="34" name="Text 24"/>
          <p:cNvSpPr/>
          <p:nvPr/>
        </p:nvSpPr>
        <p:spPr>
          <a:xfrm>
            <a:off x="9244013" y="6150412"/>
            <a:ext cx="23050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25"/>
          <p:cNvSpPr/>
          <p:nvPr/>
        </p:nvSpPr>
        <p:spPr>
          <a:xfrm>
            <a:off x="9654302" y="6166842"/>
            <a:ext cx="192131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Reward Excellence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9654302" y="6473785"/>
            <a:ext cx="2963823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Recognize high-efficiency doctors with bonuses and career advancement opportunities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EE979B7-44C4-DEAB-8E26-43671583A88A}"/>
              </a:ext>
            </a:extLst>
          </p:cNvPr>
          <p:cNvSpPr txBox="1"/>
          <p:nvPr/>
        </p:nvSpPr>
        <p:spPr>
          <a:xfrm>
            <a:off x="2174488" y="2776654"/>
            <a:ext cx="99245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solidFill>
                  <a:schemeClr val="bg1"/>
                </a:solidFill>
                <a:latin typeface="Kanit" panose="020B0604020202020204" charset="-34"/>
                <a:cs typeface="Kanit" panose="020B0604020202020204" charset="-34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320</Words>
  <Application>Microsoft Office PowerPoint</Application>
  <PresentationFormat>Custom</PresentationFormat>
  <Paragraphs>61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Kanit</vt:lpstr>
      <vt:lpstr>Martel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SOURAV THAKUR</cp:lastModifiedBy>
  <cp:revision>2</cp:revision>
  <dcterms:created xsi:type="dcterms:W3CDTF">2026-02-08T13:46:59Z</dcterms:created>
  <dcterms:modified xsi:type="dcterms:W3CDTF">2026-02-08T14:22:31Z</dcterms:modified>
</cp:coreProperties>
</file>